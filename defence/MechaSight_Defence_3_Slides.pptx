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method" id="{c63a20b2-c50d-56a2-86a1-6f972f1c1c86}">
          <p14:sldIdLst>
            <p14:sldId id="256"/>
          </p14:sldIdLst>
        </p14:section>
        <p14:section name="Work completed" id="{0cfc2889-0c25-e885-0225-1e02759195a8}">
          <p14:sldIdLst>
            <p14:sldId id="257"/>
          </p14:sldIdLst>
        </p14:section>
        <p14:section name="Status and next steps" id="{53b98671-7216-a05d-fe94-e779f49289fa}">
          <p14:sldIdLst>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MechaSight asks one question: when a machine's signals change, is it faulty, or just running differently? We use the public IMAD-DS dataset: a robotic arm and a brushless motor, each recorded with a microphone, a 3-axis accelerometer and a 3-axis gyroscope. L0 is one detector per sensor. L2 fuses their calibrated scores. L1 trains one model on all sensors together. L3 is a safety rule: if a sensor is dead or invalid, it is excluded and we decide on the remaining sensors or abstain.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finished: the data pipeline, the frozen single-sensor benchmark, 24 new early-fusion models and 208 score-fusion calibrations. Re-running the frozen models on development data reproduces every score exactly. The sensor-failure rule passed 1,992 synthetic failure tests, with zero integrity-gate false triggers on the clean development inputs tested. That is about the integrity gates only, not the anomaly detectors' false-positive rate. The plot is real development data from our website: it shows where the frozen threshold sits on normal segments. It is not a fault-detection result; the final protected test is still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up to development evaluation is complete. Right now we are finishing readiness for the final protected test: the label-free window index, the input adapter and the look ledger. Next: an independent review, then the authorized protected evaluation of 232 planned looks, then the frozen statistical comparisons, and finally the report. We log every look at the test set so the result cannot be tuned after seeing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S_CONTENT">
    <p:bg>
      <p:bgPr>
        <a:solidFill>
          <a:srgbClr val="071310"/>
        </a:solidFill>
      </p:bgPr>
    </p:bg>
    <p:spTree>
      <p:nvGrpSpPr>
        <p:cNvPr id="1" name=""/>
        <p:cNvGrpSpPr/>
        <p:nvPr/>
      </p:nvGrpSpPr>
      <p:grpSpPr>
        <a:xfrm>
          <a:off x="0" y="0"/>
          <a:ext cx="0" cy="0"/>
          <a:chOff x="0" y="0"/>
          <a:chExt cx="0" cy="0"/>
        </a:xfrm>
      </p:grpSpPr>
      <p:sp>
        <p:nvSpPr>
          <p:cNvPr id="2"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bg2"/>
                </a:solidFill>
              </a:rPr>
              <a:t>MechaSight  ·  Minor Project Defence  ·  28 October 2026</a:t>
            </a:r>
            <a:endParaRPr lang="en-US" sz="1000" dirty="0"/>
          </a:p>
        </p:txBody>
      </p:sp>
      <p:sp>
        <p:nvSpPr>
          <p:cNvPr id="3" name="Text 1"/>
          <p:cNvSpPr/>
          <p:nvPr>
            <p:ph idx="101" type="title" hasCustomPrompt="1"/>
          </p:nvPr>
        </p:nvSpPr>
        <p:spPr>
          <a:xfrm>
            <a:off x="548640" y="347472"/>
            <a:ext cx="11064240" cy="77724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77240"/>
          </a:xfrm>
          <a:prstGeom prst="rect">
            <a:avLst/>
          </a:prstGeom>
          <a:noFill/>
          <a:ln/>
        </p:spPr>
        <p:txBody>
          <a:bodyPr wrap="square" lIns="0" tIns="0" rIns="0" bIns="0" rtlCol="0" anchor="ctr"/>
          <a:lstStyle/>
          <a:p>
            <a:pPr indent="0" marL="0">
              <a:buNone/>
            </a:pPr>
            <a:r>
              <a:rPr lang="en-US" sz="3400" b="1" dirty="0">
                <a:solidFill>
                  <a:schemeClr val="bg1"/>
                </a:solidFill>
              </a:rPr>
              <a:t>MechaSight — Different </a:t>
            </a:r>
            <a:pPr indent="0" marL="0">
              <a:buNone/>
            </a:pPr>
            <a:r>
              <a:rPr lang="en-US" sz="3400" b="1" dirty="0">
                <a:solidFill>
                  <a:schemeClr val="accent1"/>
                </a:solidFill>
              </a:rPr>
              <a:t>≠</a:t>
            </a:r>
            <a:pPr indent="0" marL="0">
              <a:buNone/>
            </a:pPr>
            <a:r>
              <a:rPr lang="en-US" sz="3400" b="1" dirty="0">
                <a:solidFill>
                  <a:schemeClr val="bg1"/>
                </a:solidFill>
              </a:rPr>
              <a:t> Faulty</a:t>
            </a:r>
            <a:endParaRPr lang="en-US" sz="3400" dirty="0"/>
          </a:p>
        </p:txBody>
      </p:sp>
      <p:sp>
        <p:nvSpPr>
          <p:cNvPr id="3" name="subtitle"/>
          <p:cNvSpPr txBox="1"/>
          <p:nvPr/>
        </p:nvSpPr>
        <p:spPr>
          <a:xfrm>
            <a:off x="548640" y="1097280"/>
            <a:ext cx="10972800" cy="365760"/>
          </a:xfrm>
          <a:prstGeom prst="rect">
            <a:avLst/>
          </a:prstGeom>
          <a:noFill/>
          <a:ln/>
        </p:spPr>
        <p:txBody>
          <a:bodyPr wrap="square" lIns="0" tIns="0" rIns="0" bIns="0" rtlCol="0" anchor="ctr"/>
          <a:lstStyle/>
          <a:p>
            <a:pPr indent="0" marL="0">
              <a:buNone/>
            </a:pPr>
            <a:r>
              <a:rPr lang="en-US" sz="1600" dirty="0">
                <a:solidFill>
                  <a:schemeClr val="bg2"/>
                </a:solidFill>
              </a:rPr>
              <a:t>Robust multi-sensor machine anomaly detection under real-world operating shifts</a:t>
            </a:r>
            <a:endParaRPr lang="en-US" sz="1600" dirty="0"/>
          </a:p>
        </p:txBody>
      </p:sp>
      <p:sp>
        <p:nvSpPr>
          <p:cNvPr id="4" name="problem card"/>
          <p:cNvSpPr/>
          <p:nvPr/>
        </p:nvSpPr>
        <p:spPr>
          <a:xfrm>
            <a:off x="548640" y="1691640"/>
            <a:ext cx="5074920" cy="1600200"/>
          </a:xfrm>
          <a:prstGeom prst="roundRect">
            <a:avLst>
              <a:gd name="adj" fmla="val 4571"/>
            </a:avLst>
          </a:prstGeom>
          <a:solidFill>
            <a:srgbClr val="11261F"/>
          </a:solidFill>
          <a:ln w="12700">
            <a:solidFill>
              <a:srgbClr val="294138"/>
            </a:solidFill>
            <a:prstDash val="solid"/>
          </a:ln>
        </p:spPr>
      </p:sp>
      <p:sp>
        <p:nvSpPr>
          <p:cNvPr id="5" name="problem label"/>
          <p:cNvSpPr txBox="1"/>
          <p:nvPr/>
        </p:nvSpPr>
        <p:spPr>
          <a:xfrm>
            <a:off x="777240" y="1828800"/>
            <a:ext cx="45720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THE PROBLEM</a:t>
            </a:r>
            <a:endParaRPr lang="en-US" sz="1100" dirty="0"/>
          </a:p>
        </p:txBody>
      </p:sp>
      <p:sp>
        <p:nvSpPr>
          <p:cNvPr id="6" name="problem text"/>
          <p:cNvSpPr txBox="1"/>
          <p:nvPr/>
        </p:nvSpPr>
        <p:spPr>
          <a:xfrm>
            <a:off x="777240" y="2121408"/>
            <a:ext cx="4663440" cy="1051560"/>
          </a:xfrm>
          <a:prstGeom prst="rect">
            <a:avLst/>
          </a:prstGeom>
          <a:noFill/>
          <a:ln/>
        </p:spPr>
        <p:txBody>
          <a:bodyPr wrap="square" lIns="0" tIns="0" rIns="0" bIns="0" rtlCol="0" anchor="t"/>
          <a:lstStyle/>
          <a:p>
            <a:pPr indent="0" marL="0">
              <a:buNone/>
            </a:pPr>
            <a:r>
              <a:rPr lang="en-US" sz="1500" dirty="0">
                <a:solidFill>
                  <a:schemeClr val="bg1"/>
                </a:solidFill>
              </a:rPr>
              <a:t>A detector trained under one operating condition raises false alarms when only the load, speed or background noise changes. A changed signal is not automatically a fault.</a:t>
            </a:r>
            <a:endParaRPr lang="en-US" sz="1500" dirty="0"/>
          </a:p>
        </p:txBody>
      </p:sp>
      <p:pic>
        <p:nvPicPr>
          <p:cNvPr id="7" name="RoboticArm image" descr="RoboticArm (conceptual artwork)">    </p:cNvPr>
          <p:cNvPicPr>
            <a:picLocks noChangeAspect="1"/>
          </p:cNvPicPr>
          <p:nvPr/>
        </p:nvPicPr>
        <p:blipFill>
          <a:blip r:embed="rId1"/>
          <a:stretch>
            <a:fillRect/>
          </a:stretch>
        </p:blipFill>
        <p:spPr>
          <a:xfrm>
            <a:off x="548640" y="3520440"/>
            <a:ext cx="1051560" cy="1051560"/>
          </a:xfrm>
          <a:prstGeom prst="ellipse">
            <a:avLst/>
          </a:prstGeom>
        </p:spPr>
      </p:pic>
      <p:sp>
        <p:nvSpPr>
          <p:cNvPr id="8" name="RoboticArm label"/>
          <p:cNvSpPr txBox="1"/>
          <p:nvPr/>
        </p:nvSpPr>
        <p:spPr>
          <a:xfrm>
            <a:off x="1691640" y="3703320"/>
            <a:ext cx="1417320" cy="685800"/>
          </a:xfrm>
          <a:prstGeom prst="rect">
            <a:avLst/>
          </a:prstGeom>
          <a:noFill/>
          <a:ln/>
        </p:spPr>
        <p:txBody>
          <a:bodyPr wrap="square" lIns="0" tIns="0" rIns="0" bIns="0" rtlCol="0" anchor="ctr"/>
          <a:lstStyle/>
          <a:p>
            <a:pPr indent="0" marL="0">
              <a:buNone/>
            </a:pPr>
            <a:r>
              <a:rPr lang="en-US" sz="1300" b="1" dirty="0">
                <a:solidFill>
                  <a:schemeClr val="bg1"/>
                </a:solidFill>
              </a:rPr>
              <a:t>RoboticArm</a:t>
            </a:r>
            <a:endParaRPr lang="en-US" sz="1300" dirty="0"/>
          </a:p>
          <a:p>
            <a:pPr indent="0" marL="0">
              <a:buNone/>
            </a:pPr>
            <a:r>
              <a:rPr lang="en-US" sz="1300" dirty="0">
                <a:solidFill>
                  <a:schemeClr val="bg2"/>
                </a:solidFill>
              </a:rPr>
              <a:t>articulated arm</a:t>
            </a:r>
            <a:endParaRPr lang="en-US" sz="1300" dirty="0"/>
          </a:p>
        </p:txBody>
      </p:sp>
      <p:pic>
        <p:nvPicPr>
          <p:cNvPr id="9" name="BrushlessMotor image" descr="BrushlessMotor (conceptual artwork)">    </p:cNvPr>
          <p:cNvPicPr>
            <a:picLocks noChangeAspect="1"/>
          </p:cNvPicPr>
          <p:nvPr/>
        </p:nvPicPr>
        <p:blipFill>
          <a:blip r:embed="rId2"/>
          <a:stretch>
            <a:fillRect/>
          </a:stretch>
        </p:blipFill>
        <p:spPr>
          <a:xfrm>
            <a:off x="3154680" y="3520440"/>
            <a:ext cx="1051560" cy="1051560"/>
          </a:xfrm>
          <a:prstGeom prst="ellipse">
            <a:avLst/>
          </a:prstGeom>
        </p:spPr>
      </p:pic>
      <p:sp>
        <p:nvSpPr>
          <p:cNvPr id="10" name="BrushlessMotor label"/>
          <p:cNvSpPr txBox="1"/>
          <p:nvPr/>
        </p:nvSpPr>
        <p:spPr>
          <a:xfrm>
            <a:off x="4297680" y="3703320"/>
            <a:ext cx="1417320" cy="685800"/>
          </a:xfrm>
          <a:prstGeom prst="rect">
            <a:avLst/>
          </a:prstGeom>
          <a:noFill/>
          <a:ln/>
        </p:spPr>
        <p:txBody>
          <a:bodyPr wrap="square" lIns="0" tIns="0" rIns="0" bIns="0" rtlCol="0" anchor="ctr"/>
          <a:lstStyle/>
          <a:p>
            <a:pPr indent="0" marL="0">
              <a:buNone/>
            </a:pPr>
            <a:r>
              <a:rPr lang="en-US" sz="1300" b="1" dirty="0">
                <a:solidFill>
                  <a:schemeClr val="bg1"/>
                </a:solidFill>
              </a:rPr>
              <a:t>BrushlessMotor</a:t>
            </a:r>
            <a:endParaRPr lang="en-US" sz="1300" dirty="0"/>
          </a:p>
          <a:p>
            <a:pPr indent="0" marL="0">
              <a:buNone/>
            </a:pPr>
            <a:r>
              <a:rPr lang="en-US" sz="1300" dirty="0">
                <a:solidFill>
                  <a:schemeClr val="bg2"/>
                </a:solidFill>
              </a:rPr>
              <a:t>rotating drive</a:t>
            </a:r>
            <a:endParaRPr lang="en-US" sz="1300" dirty="0"/>
          </a:p>
        </p:txBody>
      </p:sp>
      <p:sp>
        <p:nvSpPr>
          <p:cNvPr id="11" name="Microphone dot"/>
          <p:cNvSpPr/>
          <p:nvPr/>
        </p:nvSpPr>
        <p:spPr>
          <a:xfrm>
            <a:off x="548640" y="4892040"/>
            <a:ext cx="292608" cy="292608"/>
          </a:xfrm>
          <a:prstGeom prst="ellipse">
            <a:avLst/>
          </a:prstGeom>
          <a:solidFill>
            <a:srgbClr val="57E5C1"/>
          </a:solidFill>
          <a:ln w="12700">
            <a:solidFill>
              <a:srgbClr val="57E5C1"/>
            </a:solidFill>
            <a:prstDash val="solid"/>
          </a:ln>
        </p:spPr>
      </p:sp>
      <p:sp>
        <p:nvSpPr>
          <p:cNvPr id="12" name="Microphone label"/>
          <p:cNvSpPr txBox="1"/>
          <p:nvPr/>
        </p:nvSpPr>
        <p:spPr>
          <a:xfrm>
            <a:off x="914400" y="4800600"/>
            <a:ext cx="1325880" cy="548640"/>
          </a:xfrm>
          <a:prstGeom prst="rect">
            <a:avLst/>
          </a:prstGeom>
          <a:noFill/>
          <a:ln/>
        </p:spPr>
        <p:txBody>
          <a:bodyPr wrap="square" lIns="0" tIns="0" rIns="0" bIns="0" rtlCol="0" anchor="ctr"/>
          <a:lstStyle/>
          <a:p>
            <a:pPr indent="0" marL="0">
              <a:buNone/>
            </a:pPr>
            <a:r>
              <a:rPr lang="en-US" sz="1200" b="1" dirty="0">
                <a:solidFill>
                  <a:schemeClr val="bg1"/>
                </a:solidFill>
              </a:rPr>
              <a:t>Microphone</a:t>
            </a:r>
            <a:endParaRPr lang="en-US" sz="1200" dirty="0"/>
          </a:p>
          <a:p>
            <a:pPr indent="0" marL="0">
              <a:buNone/>
            </a:pPr>
            <a:r>
              <a:rPr lang="en-US" sz="1100" dirty="0">
                <a:solidFill>
                  <a:schemeClr val="bg2"/>
                </a:solidFill>
              </a:rPr>
              <a:t>sound · 1 ch</a:t>
            </a:r>
            <a:endParaRPr lang="en-US" sz="1200" dirty="0"/>
          </a:p>
        </p:txBody>
      </p:sp>
      <p:sp>
        <p:nvSpPr>
          <p:cNvPr id="13" name="Accelerometer dot"/>
          <p:cNvSpPr/>
          <p:nvPr/>
        </p:nvSpPr>
        <p:spPr>
          <a:xfrm>
            <a:off x="2267712" y="4892040"/>
            <a:ext cx="292608" cy="292608"/>
          </a:xfrm>
          <a:prstGeom prst="ellipse">
            <a:avLst/>
          </a:prstGeom>
          <a:solidFill>
            <a:srgbClr val="F2C36A"/>
          </a:solidFill>
          <a:ln w="12700">
            <a:solidFill>
              <a:srgbClr val="F2C36A"/>
            </a:solidFill>
            <a:prstDash val="solid"/>
          </a:ln>
        </p:spPr>
      </p:sp>
      <p:sp>
        <p:nvSpPr>
          <p:cNvPr id="14" name="Accelerometer label"/>
          <p:cNvSpPr txBox="1"/>
          <p:nvPr/>
        </p:nvSpPr>
        <p:spPr>
          <a:xfrm>
            <a:off x="2633472" y="4800600"/>
            <a:ext cx="1325880" cy="548640"/>
          </a:xfrm>
          <a:prstGeom prst="rect">
            <a:avLst/>
          </a:prstGeom>
          <a:noFill/>
          <a:ln/>
        </p:spPr>
        <p:txBody>
          <a:bodyPr wrap="square" lIns="0" tIns="0" rIns="0" bIns="0" rtlCol="0" anchor="ctr"/>
          <a:lstStyle/>
          <a:p>
            <a:pPr indent="0" marL="0">
              <a:buNone/>
            </a:pPr>
            <a:r>
              <a:rPr lang="en-US" sz="1200" b="1" dirty="0">
                <a:solidFill>
                  <a:schemeClr val="bg1"/>
                </a:solidFill>
              </a:rPr>
              <a:t>Accelerometer</a:t>
            </a:r>
            <a:endParaRPr lang="en-US" sz="1200" dirty="0"/>
          </a:p>
          <a:p>
            <a:pPr indent="0" marL="0">
              <a:buNone/>
            </a:pPr>
            <a:r>
              <a:rPr lang="en-US" sz="1100" dirty="0">
                <a:solidFill>
                  <a:schemeClr val="bg2"/>
                </a:solidFill>
              </a:rPr>
              <a:t>vibration · 3-axis</a:t>
            </a:r>
            <a:endParaRPr lang="en-US" sz="1200" dirty="0"/>
          </a:p>
        </p:txBody>
      </p:sp>
      <p:sp>
        <p:nvSpPr>
          <p:cNvPr id="15" name="Gyroscope dot"/>
          <p:cNvSpPr/>
          <p:nvPr/>
        </p:nvSpPr>
        <p:spPr>
          <a:xfrm>
            <a:off x="3986784" y="4892040"/>
            <a:ext cx="292608" cy="292608"/>
          </a:xfrm>
          <a:prstGeom prst="ellipse">
            <a:avLst/>
          </a:prstGeom>
          <a:solidFill>
            <a:srgbClr val="FF8A52"/>
          </a:solidFill>
          <a:ln w="12700">
            <a:solidFill>
              <a:srgbClr val="FF8A52"/>
            </a:solidFill>
            <a:prstDash val="solid"/>
          </a:ln>
        </p:spPr>
      </p:sp>
      <p:sp>
        <p:nvSpPr>
          <p:cNvPr id="16" name="Gyroscope label"/>
          <p:cNvSpPr txBox="1"/>
          <p:nvPr/>
        </p:nvSpPr>
        <p:spPr>
          <a:xfrm>
            <a:off x="4352544" y="4800600"/>
            <a:ext cx="1325880" cy="548640"/>
          </a:xfrm>
          <a:prstGeom prst="rect">
            <a:avLst/>
          </a:prstGeom>
          <a:noFill/>
          <a:ln/>
        </p:spPr>
        <p:txBody>
          <a:bodyPr wrap="square" lIns="0" tIns="0" rIns="0" bIns="0" rtlCol="0" anchor="ctr"/>
          <a:lstStyle/>
          <a:p>
            <a:pPr indent="0" marL="0">
              <a:buNone/>
            </a:pPr>
            <a:r>
              <a:rPr lang="en-US" sz="1200" b="1" dirty="0">
                <a:solidFill>
                  <a:schemeClr val="bg1"/>
                </a:solidFill>
              </a:rPr>
              <a:t>Gyroscope</a:t>
            </a:r>
            <a:endParaRPr lang="en-US" sz="1200" dirty="0"/>
          </a:p>
          <a:p>
            <a:pPr indent="0" marL="0">
              <a:buNone/>
            </a:pPr>
            <a:r>
              <a:rPr lang="en-US" sz="1100" dirty="0">
                <a:solidFill>
                  <a:schemeClr val="bg2"/>
                </a:solidFill>
              </a:rPr>
              <a:t>rotation · 3-axis</a:t>
            </a:r>
            <a:endParaRPr lang="en-US" sz="1200" dirty="0"/>
          </a:p>
        </p:txBody>
      </p:sp>
      <p:sp>
        <p:nvSpPr>
          <p:cNvPr id="17" name="shift note"/>
          <p:cNvSpPr txBox="1"/>
          <p:nvPr/>
        </p:nvSpPr>
        <p:spPr>
          <a:xfrm>
            <a:off x="548640" y="5532120"/>
            <a:ext cx="5120640" cy="640080"/>
          </a:xfrm>
          <a:prstGeom prst="rect">
            <a:avLst/>
          </a:prstGeom>
          <a:noFill/>
          <a:ln/>
        </p:spPr>
        <p:txBody>
          <a:bodyPr wrap="square" lIns="0" tIns="0" rIns="0" bIns="0" rtlCol="0" anchor="ctr"/>
          <a:lstStyle/>
          <a:p>
            <a:pPr indent="0" marL="0">
              <a:buNone/>
            </a:pPr>
            <a:r>
              <a:rPr lang="en-US" sz="1200" i="1" dirty="0">
                <a:solidFill>
                  <a:schemeClr val="accent3"/>
                </a:solidFill>
              </a:rPr>
              <a:t>Same machine, new operating conditions: the signals shift, yet the machine is healthy. MechaSight measures how often that is wrongly called a fault.</a:t>
            </a:r>
            <a:endParaRPr lang="en-US" sz="1200" dirty="0"/>
          </a:p>
        </p:txBody>
      </p:sp>
      <p:sp>
        <p:nvSpPr>
          <p:cNvPr id="18" name="pipeline panel"/>
          <p:cNvSpPr/>
          <p:nvPr/>
        </p:nvSpPr>
        <p:spPr>
          <a:xfrm>
            <a:off x="6172200" y="1691640"/>
            <a:ext cx="5486400" cy="4480560"/>
          </a:xfrm>
          <a:prstGeom prst="roundRect">
            <a:avLst>
              <a:gd name="adj" fmla="val 1633"/>
            </a:avLst>
          </a:prstGeom>
          <a:solidFill>
            <a:srgbClr val="0B1C17"/>
          </a:solidFill>
          <a:ln w="12700">
            <a:solidFill>
              <a:srgbClr val="294138"/>
            </a:solidFill>
            <a:prstDash val="solid"/>
          </a:ln>
        </p:spPr>
      </p:sp>
      <p:sp>
        <p:nvSpPr>
          <p:cNvPr id="19" name="pipeline label"/>
          <p:cNvSpPr txBox="1"/>
          <p:nvPr/>
        </p:nvSpPr>
        <p:spPr>
          <a:xfrm>
            <a:off x="6400800" y="1828800"/>
            <a:ext cx="45720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DETECTION PIPELINE</a:t>
            </a:r>
            <a:endParaRPr lang="en-US" sz="1100" dirty="0"/>
          </a:p>
        </p:txBody>
      </p:sp>
      <p:sp>
        <p:nvSpPr>
          <p:cNvPr id="20" name="sensors box"/>
          <p:cNvSpPr/>
          <p:nvPr/>
        </p:nvSpPr>
        <p:spPr>
          <a:xfrm>
            <a:off x="6400800" y="2240280"/>
            <a:ext cx="1417320" cy="713232"/>
          </a:xfrm>
          <a:prstGeom prst="roundRect">
            <a:avLst>
              <a:gd name="adj" fmla="val 7692"/>
            </a:avLst>
          </a:prstGeom>
          <a:solidFill>
            <a:srgbClr val="11261F"/>
          </a:solidFill>
          <a:ln w="19050">
            <a:solidFill>
              <a:srgbClr val="EBF4EB"/>
            </a:solidFill>
            <a:prstDash val="solid"/>
          </a:ln>
        </p:spPr>
      </p:sp>
      <p:sp>
        <p:nvSpPr>
          <p:cNvPr id="21" name="sensors box text"/>
          <p:cNvSpPr txBox="1"/>
          <p:nvPr/>
        </p:nvSpPr>
        <p:spPr>
          <a:xfrm>
            <a:off x="6492240" y="2295144"/>
            <a:ext cx="1234440" cy="603504"/>
          </a:xfrm>
          <a:prstGeom prst="rect">
            <a:avLst/>
          </a:prstGeom>
          <a:noFill/>
          <a:ln/>
        </p:spPr>
        <p:txBody>
          <a:bodyPr wrap="square" lIns="0" tIns="0" rIns="0" bIns="0" rtlCol="0" anchor="ctr"/>
          <a:lstStyle/>
          <a:p>
            <a:pPr indent="0" marL="0">
              <a:buNone/>
            </a:pPr>
            <a:r>
              <a:rPr lang="en-US" sz="1300" b="1" dirty="0">
                <a:solidFill>
                  <a:srgbClr val="EBF4EB"/>
                </a:solidFill>
              </a:rPr>
              <a:t>Sensors</a:t>
            </a:r>
            <a:endParaRPr lang="en-US" sz="1300" dirty="0"/>
          </a:p>
          <a:p>
            <a:pPr indent="0" marL="0">
              <a:buNone/>
            </a:pPr>
            <a:r>
              <a:rPr lang="en-US" sz="1100" dirty="0">
                <a:solidFill>
                  <a:schemeClr val="bg1"/>
                </a:solidFill>
              </a:rPr>
              <a:t>mic · acc · gyro</a:t>
            </a:r>
            <a:endParaRPr lang="en-US" sz="1300" dirty="0"/>
          </a:p>
        </p:txBody>
      </p:sp>
      <p:sp>
        <p:nvSpPr>
          <p:cNvPr id="22" name="L0 box"/>
          <p:cNvSpPr/>
          <p:nvPr/>
        </p:nvSpPr>
        <p:spPr>
          <a:xfrm>
            <a:off x="8183880" y="2240280"/>
            <a:ext cx="1691640" cy="713232"/>
          </a:xfrm>
          <a:prstGeom prst="roundRect">
            <a:avLst>
              <a:gd name="adj" fmla="val 7692"/>
            </a:avLst>
          </a:prstGeom>
          <a:solidFill>
            <a:srgbClr val="11261F"/>
          </a:solidFill>
          <a:ln w="19050">
            <a:solidFill>
              <a:srgbClr val="57E5C1"/>
            </a:solidFill>
            <a:prstDash val="solid"/>
          </a:ln>
        </p:spPr>
      </p:sp>
      <p:sp>
        <p:nvSpPr>
          <p:cNvPr id="23" name="L0 box text"/>
          <p:cNvSpPr txBox="1"/>
          <p:nvPr/>
        </p:nvSpPr>
        <p:spPr>
          <a:xfrm>
            <a:off x="8275320" y="2295144"/>
            <a:ext cx="1508760" cy="603504"/>
          </a:xfrm>
          <a:prstGeom prst="rect">
            <a:avLst/>
          </a:prstGeom>
          <a:noFill/>
          <a:ln/>
        </p:spPr>
        <p:txBody>
          <a:bodyPr wrap="square" lIns="0" tIns="0" rIns="0" bIns="0" rtlCol="0" anchor="ctr"/>
          <a:lstStyle/>
          <a:p>
            <a:pPr indent="0" marL="0">
              <a:buNone/>
            </a:pPr>
            <a:r>
              <a:rPr lang="en-US" sz="1300" b="1" dirty="0">
                <a:solidFill>
                  <a:srgbClr val="57E5C1"/>
                </a:solidFill>
              </a:rPr>
              <a:t>L0</a:t>
            </a:r>
            <a:endParaRPr lang="en-US" sz="1300" dirty="0"/>
          </a:p>
          <a:p>
            <a:pPr indent="0" marL="0">
              <a:buNone/>
            </a:pPr>
            <a:r>
              <a:rPr lang="en-US" sz="1100" dirty="0">
                <a:solidFill>
                  <a:schemeClr val="bg1"/>
                </a:solidFill>
              </a:rPr>
              <a:t>one detector per sensor</a:t>
            </a:r>
            <a:endParaRPr lang="en-US" sz="1300" dirty="0"/>
          </a:p>
        </p:txBody>
      </p:sp>
      <p:sp>
        <p:nvSpPr>
          <p:cNvPr id="24" name="L2 box"/>
          <p:cNvSpPr/>
          <p:nvPr/>
        </p:nvSpPr>
        <p:spPr>
          <a:xfrm>
            <a:off x="8183880" y="3246120"/>
            <a:ext cx="1691640" cy="713232"/>
          </a:xfrm>
          <a:prstGeom prst="roundRect">
            <a:avLst>
              <a:gd name="adj" fmla="val 7692"/>
            </a:avLst>
          </a:prstGeom>
          <a:solidFill>
            <a:srgbClr val="11261F"/>
          </a:solidFill>
          <a:ln w="19050">
            <a:solidFill>
              <a:srgbClr val="F2C36A"/>
            </a:solidFill>
            <a:prstDash val="solid"/>
          </a:ln>
        </p:spPr>
      </p:sp>
      <p:sp>
        <p:nvSpPr>
          <p:cNvPr id="25" name="L2 box text"/>
          <p:cNvSpPr txBox="1"/>
          <p:nvPr/>
        </p:nvSpPr>
        <p:spPr>
          <a:xfrm>
            <a:off x="8275320" y="3300984"/>
            <a:ext cx="1508760" cy="603504"/>
          </a:xfrm>
          <a:prstGeom prst="rect">
            <a:avLst/>
          </a:prstGeom>
          <a:noFill/>
          <a:ln/>
        </p:spPr>
        <p:txBody>
          <a:bodyPr wrap="square" lIns="0" tIns="0" rIns="0" bIns="0" rtlCol="0" anchor="ctr"/>
          <a:lstStyle/>
          <a:p>
            <a:pPr indent="0" marL="0">
              <a:buNone/>
            </a:pPr>
            <a:r>
              <a:rPr lang="en-US" sz="1300" b="1" dirty="0">
                <a:solidFill>
                  <a:srgbClr val="F2C36A"/>
                </a:solidFill>
              </a:rPr>
              <a:t>L2  score fusion</a:t>
            </a:r>
            <a:endParaRPr lang="en-US" sz="1300" dirty="0"/>
          </a:p>
          <a:p>
            <a:pPr indent="0" marL="0">
              <a:buNone/>
            </a:pPr>
            <a:r>
              <a:rPr lang="en-US" sz="1100" dirty="0">
                <a:solidFill>
                  <a:schemeClr val="bg1"/>
                </a:solidFill>
              </a:rPr>
              <a:t>calibrated mean of L0</a:t>
            </a:r>
            <a:endParaRPr lang="en-US" sz="1300" dirty="0"/>
          </a:p>
        </p:txBody>
      </p:sp>
      <p:sp>
        <p:nvSpPr>
          <p:cNvPr id="26" name="L1 box"/>
          <p:cNvSpPr/>
          <p:nvPr/>
        </p:nvSpPr>
        <p:spPr>
          <a:xfrm>
            <a:off x="8183880" y="4251960"/>
            <a:ext cx="1691640" cy="713232"/>
          </a:xfrm>
          <a:prstGeom prst="roundRect">
            <a:avLst>
              <a:gd name="adj" fmla="val 7692"/>
            </a:avLst>
          </a:prstGeom>
          <a:solidFill>
            <a:srgbClr val="11261F"/>
          </a:solidFill>
          <a:ln w="19050">
            <a:solidFill>
              <a:srgbClr val="FF8A52"/>
            </a:solidFill>
            <a:prstDash val="solid"/>
          </a:ln>
        </p:spPr>
      </p:sp>
      <p:sp>
        <p:nvSpPr>
          <p:cNvPr id="27" name="L1 box text"/>
          <p:cNvSpPr txBox="1"/>
          <p:nvPr/>
        </p:nvSpPr>
        <p:spPr>
          <a:xfrm>
            <a:off x="8275320" y="4306824"/>
            <a:ext cx="1508760" cy="603504"/>
          </a:xfrm>
          <a:prstGeom prst="rect">
            <a:avLst/>
          </a:prstGeom>
          <a:noFill/>
          <a:ln/>
        </p:spPr>
        <p:txBody>
          <a:bodyPr wrap="square" lIns="0" tIns="0" rIns="0" bIns="0" rtlCol="0" anchor="ctr"/>
          <a:lstStyle/>
          <a:p>
            <a:pPr indent="0" marL="0">
              <a:buNone/>
            </a:pPr>
            <a:r>
              <a:rPr lang="en-US" sz="1300" b="1" dirty="0">
                <a:solidFill>
                  <a:srgbClr val="FF8A52"/>
                </a:solidFill>
              </a:rPr>
              <a:t>L1  early fusion</a:t>
            </a:r>
            <a:endParaRPr lang="en-US" sz="1300" dirty="0"/>
          </a:p>
          <a:p>
            <a:pPr indent="0" marL="0">
              <a:buNone/>
            </a:pPr>
            <a:r>
              <a:rPr lang="en-US" sz="1100" dirty="0">
                <a:solidFill>
                  <a:schemeClr val="bg1"/>
                </a:solidFill>
              </a:rPr>
              <a:t>one model, all sensors</a:t>
            </a:r>
            <a:endParaRPr lang="en-US" sz="1300" dirty="0"/>
          </a:p>
        </p:txBody>
      </p:sp>
      <p:sp>
        <p:nvSpPr>
          <p:cNvPr id="28" name="decision box"/>
          <p:cNvSpPr/>
          <p:nvPr/>
        </p:nvSpPr>
        <p:spPr>
          <a:xfrm>
            <a:off x="10149840" y="3246120"/>
            <a:ext cx="1325880" cy="713232"/>
          </a:xfrm>
          <a:prstGeom prst="roundRect">
            <a:avLst>
              <a:gd name="adj" fmla="val 7692"/>
            </a:avLst>
          </a:prstGeom>
          <a:solidFill>
            <a:srgbClr val="11261F"/>
          </a:solidFill>
          <a:ln w="19050">
            <a:solidFill>
              <a:srgbClr val="EBF4EB"/>
            </a:solidFill>
            <a:prstDash val="solid"/>
          </a:ln>
        </p:spPr>
      </p:sp>
      <p:sp>
        <p:nvSpPr>
          <p:cNvPr id="29" name="decision box text"/>
          <p:cNvSpPr txBox="1"/>
          <p:nvPr/>
        </p:nvSpPr>
        <p:spPr>
          <a:xfrm>
            <a:off x="10241280" y="3300984"/>
            <a:ext cx="1143000" cy="603504"/>
          </a:xfrm>
          <a:prstGeom prst="rect">
            <a:avLst/>
          </a:prstGeom>
          <a:noFill/>
          <a:ln/>
        </p:spPr>
        <p:txBody>
          <a:bodyPr wrap="square" lIns="0" tIns="0" rIns="0" bIns="0" rtlCol="0" anchor="ctr"/>
          <a:lstStyle/>
          <a:p>
            <a:pPr indent="0" marL="0">
              <a:buNone/>
            </a:pPr>
            <a:r>
              <a:rPr lang="en-US" sz="1300" b="1" dirty="0">
                <a:solidFill>
                  <a:srgbClr val="EBF4EB"/>
                </a:solidFill>
              </a:rPr>
              <a:t>Decision</a:t>
            </a:r>
            <a:endParaRPr lang="en-US" sz="1300" dirty="0"/>
          </a:p>
          <a:p>
            <a:pPr indent="0" marL="0">
              <a:buNone/>
            </a:pPr>
            <a:r>
              <a:rPr lang="en-US" sz="1100" dirty="0">
                <a:solidFill>
                  <a:schemeClr val="bg1"/>
                </a:solidFill>
              </a:rPr>
              <a:t>normal / anomaly at frozen threshold</a:t>
            </a:r>
            <a:endParaRPr lang="en-US" sz="1300" dirty="0"/>
          </a:p>
        </p:txBody>
      </p:sp>
      <p:sp>
        <p:nvSpPr>
          <p:cNvPr id="30" name="a sensors-L0"/>
          <p:cNvSpPr/>
          <p:nvPr/>
        </p:nvSpPr>
        <p:spPr>
          <a:xfrm>
            <a:off x="7818120" y="2596896"/>
            <a:ext cx="365760" cy="0"/>
          </a:xfrm>
          <a:prstGeom prst="line">
            <a:avLst/>
          </a:prstGeom>
          <a:noFill/>
          <a:ln w="15875">
            <a:solidFill>
              <a:srgbClr val="A4BBB0"/>
            </a:solidFill>
            <a:prstDash val="solid"/>
            <a:tailEnd type="triangle"/>
          </a:ln>
        </p:spPr>
      </p:sp>
      <p:sp>
        <p:nvSpPr>
          <p:cNvPr id="31" name="a L0-L2"/>
          <p:cNvSpPr/>
          <p:nvPr/>
        </p:nvSpPr>
        <p:spPr>
          <a:xfrm>
            <a:off x="9025128" y="2953512"/>
            <a:ext cx="0" cy="292608"/>
          </a:xfrm>
          <a:prstGeom prst="line">
            <a:avLst/>
          </a:prstGeom>
          <a:noFill/>
          <a:ln w="15875">
            <a:solidFill>
              <a:srgbClr val="A4BBB0"/>
            </a:solidFill>
            <a:prstDash val="solid"/>
            <a:tailEnd type="triangle"/>
          </a:ln>
        </p:spPr>
      </p:sp>
      <p:sp>
        <p:nvSpPr>
          <p:cNvPr id="32" name="a sensors-down"/>
          <p:cNvSpPr/>
          <p:nvPr/>
        </p:nvSpPr>
        <p:spPr>
          <a:xfrm>
            <a:off x="7104888" y="2953512"/>
            <a:ext cx="0" cy="1655064"/>
          </a:xfrm>
          <a:prstGeom prst="line">
            <a:avLst/>
          </a:prstGeom>
          <a:noFill/>
          <a:ln w="15875">
            <a:solidFill>
              <a:srgbClr val="A4BBB0"/>
            </a:solidFill>
            <a:prstDash val="solid"/>
            <a:tailEnd type="triangle"/>
          </a:ln>
        </p:spPr>
      </p:sp>
      <p:sp>
        <p:nvSpPr>
          <p:cNvPr id="33" name="a to L1"/>
          <p:cNvSpPr/>
          <p:nvPr/>
        </p:nvSpPr>
        <p:spPr>
          <a:xfrm>
            <a:off x="7104888" y="4608576"/>
            <a:ext cx="1078992" cy="0"/>
          </a:xfrm>
          <a:prstGeom prst="line">
            <a:avLst/>
          </a:prstGeom>
          <a:noFill/>
          <a:ln w="15875">
            <a:solidFill>
              <a:srgbClr val="A4BBB0"/>
            </a:solidFill>
            <a:prstDash val="solid"/>
            <a:tailEnd type="triangle"/>
          </a:ln>
        </p:spPr>
      </p:sp>
      <p:sp>
        <p:nvSpPr>
          <p:cNvPr id="34" name="a L2-decision"/>
          <p:cNvSpPr/>
          <p:nvPr/>
        </p:nvSpPr>
        <p:spPr>
          <a:xfrm>
            <a:off x="9875520" y="3602736"/>
            <a:ext cx="274320" cy="0"/>
          </a:xfrm>
          <a:prstGeom prst="line">
            <a:avLst/>
          </a:prstGeom>
          <a:noFill/>
          <a:ln w="15875">
            <a:solidFill>
              <a:srgbClr val="A4BBB0"/>
            </a:solidFill>
            <a:prstDash val="solid"/>
            <a:tailEnd type="triangle"/>
          </a:ln>
        </p:spPr>
      </p:sp>
      <p:sp>
        <p:nvSpPr>
          <p:cNvPr id="35" name="a L1-out"/>
          <p:cNvSpPr/>
          <p:nvPr/>
        </p:nvSpPr>
        <p:spPr>
          <a:xfrm>
            <a:off x="9875520" y="4608576"/>
            <a:ext cx="932688" cy="0"/>
          </a:xfrm>
          <a:prstGeom prst="line">
            <a:avLst/>
          </a:prstGeom>
          <a:noFill/>
          <a:ln w="15875">
            <a:solidFill>
              <a:srgbClr val="A4BBB0"/>
            </a:solidFill>
            <a:prstDash val="solid"/>
            <a:tailEnd type="triangle"/>
          </a:ln>
        </p:spPr>
      </p:sp>
      <p:sp>
        <p:nvSpPr>
          <p:cNvPr id="36" name="a L1-decision"/>
          <p:cNvSpPr/>
          <p:nvPr/>
        </p:nvSpPr>
        <p:spPr>
          <a:xfrm>
            <a:off x="10808208" y="3959352"/>
            <a:ext cx="0" cy="649224"/>
          </a:xfrm>
          <a:prstGeom prst="line">
            <a:avLst/>
          </a:prstGeom>
          <a:noFill/>
          <a:ln w="15875">
            <a:solidFill>
              <a:srgbClr val="A4BBB0"/>
            </a:solidFill>
            <a:prstDash val="solid"/>
            <a:headEnd type="triangle"/>
          </a:ln>
        </p:spPr>
      </p:sp>
      <p:sp>
        <p:nvSpPr>
          <p:cNvPr id="37" name="L3 box"/>
          <p:cNvSpPr/>
          <p:nvPr/>
        </p:nvSpPr>
        <p:spPr>
          <a:xfrm>
            <a:off x="6400800" y="5257800"/>
            <a:ext cx="5029200" cy="685800"/>
          </a:xfrm>
          <a:prstGeom prst="roundRect">
            <a:avLst>
              <a:gd name="adj" fmla="val 8000"/>
            </a:avLst>
          </a:prstGeom>
          <a:solidFill>
            <a:srgbClr val="11261F"/>
          </a:solidFill>
          <a:ln w="19050">
            <a:solidFill>
              <a:srgbClr val="57E5C1"/>
            </a:solidFill>
            <a:prstDash val="dash"/>
          </a:ln>
        </p:spPr>
      </p:sp>
      <p:sp>
        <p:nvSpPr>
          <p:cNvPr id="38" name="L3 text"/>
          <p:cNvSpPr txBox="1"/>
          <p:nvPr/>
        </p:nvSpPr>
        <p:spPr>
          <a:xfrm>
            <a:off x="6537960" y="5303520"/>
            <a:ext cx="4800600" cy="594360"/>
          </a:xfrm>
          <a:prstGeom prst="rect">
            <a:avLst/>
          </a:prstGeom>
          <a:noFill/>
          <a:ln/>
        </p:spPr>
        <p:txBody>
          <a:bodyPr wrap="square" lIns="0" tIns="0" rIns="0" bIns="0" rtlCol="0" anchor="ctr"/>
          <a:lstStyle/>
          <a:p>
            <a:pPr indent="0" marL="0">
              <a:buNone/>
            </a:pPr>
            <a:r>
              <a:rPr lang="en-US" sz="1200" b="1" dirty="0">
                <a:solidFill>
                  <a:schemeClr val="accent2"/>
                </a:solidFill>
              </a:rPr>
              <a:t>L3  sensor-integrity fallback  </a:t>
            </a:r>
            <a:pPr indent="0" marL="0">
              <a:buNone/>
            </a:pPr>
            <a:r>
              <a:rPr lang="en-US" sz="1200" dirty="0">
                <a:solidFill>
                  <a:schemeClr val="bg1"/>
                </a:solidFill>
              </a:rPr>
              <a:t>a dead or invalid sensor is excluded; decide on the surviving sensors, or abstain</a:t>
            </a:r>
            <a:endParaRPr lang="en-US" sz="1200" dirty="0"/>
          </a:p>
        </p:txBody>
      </p:sp>
      <p:sp>
        <p:nvSpPr>
          <p:cNvPr id="39" name="team (editable)"/>
          <p:cNvSpPr txBox="1"/>
          <p:nvPr/>
        </p:nvSpPr>
        <p:spPr>
          <a:xfrm>
            <a:off x="3840480" y="6419088"/>
            <a:ext cx="7223760" cy="274320"/>
          </a:xfrm>
          <a:prstGeom prst="rect">
            <a:avLst/>
          </a:prstGeom>
          <a:noFill/>
          <a:ln/>
        </p:spPr>
        <p:txBody>
          <a:bodyPr wrap="square" lIns="0" tIns="0" rIns="0" bIns="0" rtlCol="0" anchor="ctr"/>
          <a:lstStyle/>
          <a:p>
            <a:pPr algn="r" indent="0" marL="0">
              <a:buNone/>
            </a:pPr>
            <a:r>
              <a:rPr lang="en-US" sz="1000" dirty="0">
                <a:solidFill>
                  <a:schemeClr val="bg2"/>
                </a:solidFill>
              </a:rPr>
              <a:t>Student researcher: Amaan Khan   ·   Supervisor: Vikas Sharma   ·   Co-supervisor: Surbhi Upadhyay</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77240"/>
          </a:xfrm>
          <a:prstGeom prst="rect">
            <a:avLst/>
          </a:prstGeom>
          <a:noFill/>
          <a:ln/>
        </p:spPr>
        <p:txBody>
          <a:bodyPr wrap="square" lIns="0" tIns="0" rIns="0" bIns="0" rtlCol="0" anchor="ctr"/>
          <a:lstStyle/>
          <a:p>
            <a:pPr indent="0" marL="0">
              <a:buNone/>
            </a:pPr>
            <a:r>
              <a:rPr lang="en-US" sz="3400" b="1" dirty="0">
                <a:solidFill>
                  <a:schemeClr val="bg1"/>
                </a:solidFill>
              </a:rPr>
              <a:t>Work completed — verified on development data</a:t>
            </a:r>
            <a:endParaRPr lang="en-US" sz="3400" dirty="0"/>
          </a:p>
        </p:txBody>
      </p:sp>
      <p:sp>
        <p:nvSpPr>
          <p:cNvPr id="3" name="stat 1"/>
          <p:cNvSpPr/>
          <p:nvPr/>
        </p:nvSpPr>
        <p:spPr>
          <a:xfrm>
            <a:off x="548640" y="1325880"/>
            <a:ext cx="2606040" cy="1371600"/>
          </a:xfrm>
          <a:prstGeom prst="roundRect">
            <a:avLst>
              <a:gd name="adj" fmla="val 5333"/>
            </a:avLst>
          </a:prstGeom>
          <a:solidFill>
            <a:srgbClr val="11261F"/>
          </a:solidFill>
          <a:ln w="12700">
            <a:solidFill>
              <a:srgbClr val="294138"/>
            </a:solidFill>
            <a:prstDash val="solid"/>
          </a:ln>
        </p:spPr>
      </p:sp>
      <p:sp>
        <p:nvSpPr>
          <p:cNvPr id="4" name="stat 1 value"/>
          <p:cNvSpPr txBox="1"/>
          <p:nvPr/>
        </p:nvSpPr>
        <p:spPr>
          <a:xfrm>
            <a:off x="731520" y="1435608"/>
            <a:ext cx="2286000" cy="566928"/>
          </a:xfrm>
          <a:prstGeom prst="rect">
            <a:avLst/>
          </a:prstGeom>
          <a:noFill/>
          <a:ln/>
        </p:spPr>
        <p:txBody>
          <a:bodyPr wrap="square" lIns="0" tIns="0" rIns="0" bIns="0" rtlCol="0" anchor="ctr"/>
          <a:lstStyle/>
          <a:p>
            <a:pPr indent="0" marL="0">
              <a:buNone/>
            </a:pPr>
            <a:r>
              <a:rPr lang="en-US" sz="3200" b="1" dirty="0">
                <a:solidFill>
                  <a:srgbClr val="57E5C1"/>
                </a:solidFill>
                <a:latin typeface="Arial" pitchFamily="34" charset="0"/>
                <a:ea typeface="Arial" pitchFamily="34" charset="-122"/>
                <a:cs typeface="Arial" pitchFamily="34" charset="-120"/>
              </a:rPr>
              <a:t>156</a:t>
            </a:r>
            <a:endParaRPr lang="en-US" sz="3200" dirty="0"/>
          </a:p>
        </p:txBody>
      </p:sp>
      <p:sp>
        <p:nvSpPr>
          <p:cNvPr id="5" name="stat 1 text"/>
          <p:cNvSpPr txBox="1"/>
          <p:nvPr/>
        </p:nvSpPr>
        <p:spPr>
          <a:xfrm>
            <a:off x="731520" y="2002536"/>
            <a:ext cx="2286000" cy="640080"/>
          </a:xfrm>
          <a:prstGeom prst="rect">
            <a:avLst/>
          </a:prstGeom>
          <a:noFill/>
          <a:ln/>
        </p:spPr>
        <p:txBody>
          <a:bodyPr wrap="square" lIns="0" tIns="0" rIns="0" bIns="0" rtlCol="0" anchor="t"/>
          <a:lstStyle/>
          <a:p>
            <a:pPr indent="0" marL="0">
              <a:buNone/>
            </a:pPr>
            <a:r>
              <a:rPr lang="en-US" sz="1100" dirty="0">
                <a:solidFill>
                  <a:schemeClr val="bg1"/>
                </a:solidFill>
              </a:rPr>
              <a:t>single-sensor detectors benchmarked and frozen (5 model families, 2 machines, 2 regimes)</a:t>
            </a:r>
            <a:endParaRPr lang="en-US" sz="1100" dirty="0"/>
          </a:p>
        </p:txBody>
      </p:sp>
      <p:sp>
        <p:nvSpPr>
          <p:cNvPr id="6" name="stat 2"/>
          <p:cNvSpPr/>
          <p:nvPr/>
        </p:nvSpPr>
        <p:spPr>
          <a:xfrm>
            <a:off x="3337560" y="1325880"/>
            <a:ext cx="2606040" cy="1371600"/>
          </a:xfrm>
          <a:prstGeom prst="roundRect">
            <a:avLst>
              <a:gd name="adj" fmla="val 5333"/>
            </a:avLst>
          </a:prstGeom>
          <a:solidFill>
            <a:srgbClr val="11261F"/>
          </a:solidFill>
          <a:ln w="12700">
            <a:solidFill>
              <a:srgbClr val="294138"/>
            </a:solidFill>
            <a:prstDash val="solid"/>
          </a:ln>
        </p:spPr>
      </p:sp>
      <p:sp>
        <p:nvSpPr>
          <p:cNvPr id="7" name="stat 2 value"/>
          <p:cNvSpPr txBox="1"/>
          <p:nvPr/>
        </p:nvSpPr>
        <p:spPr>
          <a:xfrm>
            <a:off x="3520440" y="1435608"/>
            <a:ext cx="2286000" cy="566928"/>
          </a:xfrm>
          <a:prstGeom prst="rect">
            <a:avLst/>
          </a:prstGeom>
          <a:noFill/>
          <a:ln/>
        </p:spPr>
        <p:txBody>
          <a:bodyPr wrap="square" lIns="0" tIns="0" rIns="0" bIns="0" rtlCol="0" anchor="ctr"/>
          <a:lstStyle/>
          <a:p>
            <a:pPr indent="0" marL="0">
              <a:buNone/>
            </a:pPr>
            <a:r>
              <a:rPr lang="en-US" sz="3200" b="1" dirty="0">
                <a:solidFill>
                  <a:srgbClr val="FF8A52"/>
                </a:solidFill>
                <a:latin typeface="Arial" pitchFamily="34" charset="0"/>
                <a:ea typeface="Arial" pitchFamily="34" charset="-122"/>
                <a:cs typeface="Arial" pitchFamily="34" charset="-120"/>
              </a:rPr>
              <a:t>24</a:t>
            </a:r>
            <a:endParaRPr lang="en-US" sz="3200" dirty="0"/>
          </a:p>
        </p:txBody>
      </p:sp>
      <p:sp>
        <p:nvSpPr>
          <p:cNvPr id="8" name="stat 2 text"/>
          <p:cNvSpPr txBox="1"/>
          <p:nvPr/>
        </p:nvSpPr>
        <p:spPr>
          <a:xfrm>
            <a:off x="3520440" y="2002536"/>
            <a:ext cx="2286000" cy="640080"/>
          </a:xfrm>
          <a:prstGeom prst="rect">
            <a:avLst/>
          </a:prstGeom>
          <a:noFill/>
          <a:ln/>
        </p:spPr>
        <p:txBody>
          <a:bodyPr wrap="square" lIns="0" tIns="0" rIns="0" bIns="0" rtlCol="0" anchor="t"/>
          <a:lstStyle/>
          <a:p>
            <a:pPr indent="0" marL="0">
              <a:buNone/>
            </a:pPr>
            <a:r>
              <a:rPr lang="en-US" sz="1100" dirty="0">
                <a:solidFill>
                  <a:schemeClr val="bg1"/>
                </a:solidFill>
              </a:rPr>
              <a:t>new early-fusion (L1) models trained — Mahalanobis and dense autoencoders</a:t>
            </a:r>
            <a:endParaRPr lang="en-US" sz="1100" dirty="0"/>
          </a:p>
        </p:txBody>
      </p:sp>
      <p:sp>
        <p:nvSpPr>
          <p:cNvPr id="9" name="stat 3"/>
          <p:cNvSpPr/>
          <p:nvPr/>
        </p:nvSpPr>
        <p:spPr>
          <a:xfrm>
            <a:off x="548640" y="2862072"/>
            <a:ext cx="2606040" cy="1371600"/>
          </a:xfrm>
          <a:prstGeom prst="roundRect">
            <a:avLst>
              <a:gd name="adj" fmla="val 5333"/>
            </a:avLst>
          </a:prstGeom>
          <a:solidFill>
            <a:srgbClr val="11261F"/>
          </a:solidFill>
          <a:ln w="12700">
            <a:solidFill>
              <a:srgbClr val="294138"/>
            </a:solidFill>
            <a:prstDash val="solid"/>
          </a:ln>
        </p:spPr>
      </p:sp>
      <p:sp>
        <p:nvSpPr>
          <p:cNvPr id="10" name="stat 3 value"/>
          <p:cNvSpPr txBox="1"/>
          <p:nvPr/>
        </p:nvSpPr>
        <p:spPr>
          <a:xfrm>
            <a:off x="731520" y="2971800"/>
            <a:ext cx="2286000" cy="566928"/>
          </a:xfrm>
          <a:prstGeom prst="rect">
            <a:avLst/>
          </a:prstGeom>
          <a:noFill/>
          <a:ln/>
        </p:spPr>
        <p:txBody>
          <a:bodyPr wrap="square" lIns="0" tIns="0" rIns="0" bIns="0" rtlCol="0" anchor="ctr"/>
          <a:lstStyle/>
          <a:p>
            <a:pPr indent="0" marL="0">
              <a:buNone/>
            </a:pPr>
            <a:r>
              <a:rPr lang="en-US" sz="3200" b="1" dirty="0">
                <a:solidFill>
                  <a:srgbClr val="F2C36A"/>
                </a:solidFill>
                <a:latin typeface="Arial" pitchFamily="34" charset="0"/>
                <a:ea typeface="Arial" pitchFamily="34" charset="-122"/>
                <a:cs typeface="Arial" pitchFamily="34" charset="-120"/>
              </a:rPr>
              <a:t>208</a:t>
            </a:r>
            <a:endParaRPr lang="en-US" sz="3200" dirty="0"/>
          </a:p>
        </p:txBody>
      </p:sp>
      <p:sp>
        <p:nvSpPr>
          <p:cNvPr id="11" name="stat 3 text"/>
          <p:cNvSpPr txBox="1"/>
          <p:nvPr/>
        </p:nvSpPr>
        <p:spPr>
          <a:xfrm>
            <a:off x="731520" y="3538728"/>
            <a:ext cx="2286000" cy="640080"/>
          </a:xfrm>
          <a:prstGeom prst="rect">
            <a:avLst/>
          </a:prstGeom>
          <a:noFill/>
          <a:ln/>
        </p:spPr>
        <p:txBody>
          <a:bodyPr wrap="square" lIns="0" tIns="0" rIns="0" bIns="0" rtlCol="0" anchor="t"/>
          <a:lstStyle/>
          <a:p>
            <a:pPr indent="0" marL="0">
              <a:buNone/>
            </a:pPr>
            <a:r>
              <a:rPr lang="en-US" sz="1100" dirty="0">
                <a:solidFill>
                  <a:schemeClr val="bg1"/>
                </a:solidFill>
              </a:rPr>
              <a:t>score-fusion (L2) calibrations across 52 fusion units</a:t>
            </a:r>
            <a:endParaRPr lang="en-US" sz="1100" dirty="0"/>
          </a:p>
        </p:txBody>
      </p:sp>
      <p:sp>
        <p:nvSpPr>
          <p:cNvPr id="12" name="stat 4"/>
          <p:cNvSpPr/>
          <p:nvPr/>
        </p:nvSpPr>
        <p:spPr>
          <a:xfrm>
            <a:off x="3337560" y="2862072"/>
            <a:ext cx="2606040" cy="1371600"/>
          </a:xfrm>
          <a:prstGeom prst="roundRect">
            <a:avLst>
              <a:gd name="adj" fmla="val 5333"/>
            </a:avLst>
          </a:prstGeom>
          <a:solidFill>
            <a:srgbClr val="11261F"/>
          </a:solidFill>
          <a:ln w="12700">
            <a:solidFill>
              <a:srgbClr val="294138"/>
            </a:solidFill>
            <a:prstDash val="solid"/>
          </a:ln>
        </p:spPr>
      </p:sp>
      <p:sp>
        <p:nvSpPr>
          <p:cNvPr id="13" name="stat 4 value"/>
          <p:cNvSpPr txBox="1"/>
          <p:nvPr/>
        </p:nvSpPr>
        <p:spPr>
          <a:xfrm>
            <a:off x="3520440" y="2971800"/>
            <a:ext cx="2286000" cy="566928"/>
          </a:xfrm>
          <a:prstGeom prst="rect">
            <a:avLst/>
          </a:prstGeom>
          <a:noFill/>
          <a:ln/>
        </p:spPr>
        <p:txBody>
          <a:bodyPr wrap="square" lIns="0" tIns="0" rIns="0" bIns="0" rtlCol="0" anchor="ctr"/>
          <a:lstStyle/>
          <a:p>
            <a:pPr indent="0" marL="0">
              <a:buNone/>
            </a:pPr>
            <a:r>
              <a:rPr lang="en-US" sz="3200" b="1" dirty="0">
                <a:solidFill>
                  <a:srgbClr val="57E5C1"/>
                </a:solidFill>
                <a:latin typeface="Arial" pitchFamily="34" charset="0"/>
                <a:ea typeface="Arial" pitchFamily="34" charset="-122"/>
                <a:cs typeface="Arial" pitchFamily="34" charset="-120"/>
              </a:rPr>
              <a:t>0.0</a:t>
            </a:r>
            <a:endParaRPr lang="en-US" sz="3200" dirty="0"/>
          </a:p>
        </p:txBody>
      </p:sp>
      <p:sp>
        <p:nvSpPr>
          <p:cNvPr id="14" name="stat 4 text"/>
          <p:cNvSpPr txBox="1"/>
          <p:nvPr/>
        </p:nvSpPr>
        <p:spPr>
          <a:xfrm>
            <a:off x="3520440" y="3538728"/>
            <a:ext cx="2286000" cy="640080"/>
          </a:xfrm>
          <a:prstGeom prst="rect">
            <a:avLst/>
          </a:prstGeom>
          <a:noFill/>
          <a:ln/>
        </p:spPr>
        <p:txBody>
          <a:bodyPr wrap="square" lIns="0" tIns="0" rIns="0" bIns="0" rtlCol="0" anchor="t"/>
          <a:lstStyle/>
          <a:p>
            <a:pPr indent="0" marL="0">
              <a:buNone/>
            </a:pPr>
            <a:r>
              <a:rPr lang="en-US" sz="1100" dirty="0">
                <a:solidFill>
                  <a:schemeClr val="bg1"/>
                </a:solidFill>
              </a:rPr>
              <a:t>max score difference: all 24 L1 and 208 L2 outputs reproduced exactly</a:t>
            </a:r>
            <a:endParaRPr lang="en-US" sz="1100" dirty="0"/>
          </a:p>
        </p:txBody>
      </p:sp>
      <p:sp>
        <p:nvSpPr>
          <p:cNvPr id="15" name="stat 5"/>
          <p:cNvSpPr/>
          <p:nvPr/>
        </p:nvSpPr>
        <p:spPr>
          <a:xfrm>
            <a:off x="548640" y="4398264"/>
            <a:ext cx="2606040" cy="1371600"/>
          </a:xfrm>
          <a:prstGeom prst="roundRect">
            <a:avLst>
              <a:gd name="adj" fmla="val 5333"/>
            </a:avLst>
          </a:prstGeom>
          <a:solidFill>
            <a:srgbClr val="11261F"/>
          </a:solidFill>
          <a:ln w="12700">
            <a:solidFill>
              <a:srgbClr val="294138"/>
            </a:solidFill>
            <a:prstDash val="solid"/>
          </a:ln>
        </p:spPr>
      </p:sp>
      <p:sp>
        <p:nvSpPr>
          <p:cNvPr id="16" name="stat 5 value"/>
          <p:cNvSpPr txBox="1"/>
          <p:nvPr/>
        </p:nvSpPr>
        <p:spPr>
          <a:xfrm>
            <a:off x="731520" y="4507992"/>
            <a:ext cx="2286000" cy="566928"/>
          </a:xfrm>
          <a:prstGeom prst="rect">
            <a:avLst/>
          </a:prstGeom>
          <a:noFill/>
          <a:ln/>
        </p:spPr>
        <p:txBody>
          <a:bodyPr wrap="square" lIns="0" tIns="0" rIns="0" bIns="0" rtlCol="0" anchor="ctr"/>
          <a:lstStyle/>
          <a:p>
            <a:pPr indent="0" marL="0">
              <a:buNone/>
            </a:pPr>
            <a:r>
              <a:rPr lang="en-US" sz="3200" b="1" dirty="0">
                <a:solidFill>
                  <a:srgbClr val="FF8A52"/>
                </a:solidFill>
                <a:latin typeface="Arial" pitchFamily="34" charset="0"/>
                <a:ea typeface="Arial" pitchFamily="34" charset="-122"/>
                <a:cs typeface="Arial" pitchFamily="34" charset="-120"/>
              </a:rPr>
              <a:t>1,992</a:t>
            </a:r>
            <a:endParaRPr lang="en-US" sz="3200" dirty="0"/>
          </a:p>
        </p:txBody>
      </p:sp>
      <p:sp>
        <p:nvSpPr>
          <p:cNvPr id="17" name="stat 5 text"/>
          <p:cNvSpPr txBox="1"/>
          <p:nvPr/>
        </p:nvSpPr>
        <p:spPr>
          <a:xfrm>
            <a:off x="731520" y="5074920"/>
            <a:ext cx="2286000" cy="640080"/>
          </a:xfrm>
          <a:prstGeom prst="rect">
            <a:avLst/>
          </a:prstGeom>
          <a:noFill/>
          <a:ln/>
        </p:spPr>
        <p:txBody>
          <a:bodyPr wrap="square" lIns="0" tIns="0" rIns="0" bIns="0" rtlCol="0" anchor="t"/>
          <a:lstStyle/>
          <a:p>
            <a:pPr indent="0" marL="0">
              <a:buNone/>
            </a:pPr>
            <a:r>
              <a:rPr lang="en-US" sz="1100" dirty="0">
                <a:solidFill>
                  <a:schemeClr val="bg1"/>
                </a:solidFill>
              </a:rPr>
              <a:t>synthetic sensor-failure runs; all pass criteria met, 0 false triggers on 21,154 clean channels</a:t>
            </a:r>
            <a:endParaRPr lang="en-US" sz="1100" dirty="0"/>
          </a:p>
        </p:txBody>
      </p:sp>
      <p:sp>
        <p:nvSpPr>
          <p:cNvPr id="18" name="stat 6"/>
          <p:cNvSpPr/>
          <p:nvPr/>
        </p:nvSpPr>
        <p:spPr>
          <a:xfrm>
            <a:off x="3337560" y="4398264"/>
            <a:ext cx="2606040" cy="1371600"/>
          </a:xfrm>
          <a:prstGeom prst="roundRect">
            <a:avLst>
              <a:gd name="adj" fmla="val 5333"/>
            </a:avLst>
          </a:prstGeom>
          <a:solidFill>
            <a:srgbClr val="11261F"/>
          </a:solidFill>
          <a:ln w="12700">
            <a:solidFill>
              <a:srgbClr val="294138"/>
            </a:solidFill>
            <a:prstDash val="solid"/>
          </a:ln>
        </p:spPr>
      </p:sp>
      <p:sp>
        <p:nvSpPr>
          <p:cNvPr id="19" name="stat 6 value"/>
          <p:cNvSpPr txBox="1"/>
          <p:nvPr/>
        </p:nvSpPr>
        <p:spPr>
          <a:xfrm>
            <a:off x="3520440" y="4507992"/>
            <a:ext cx="2286000" cy="566928"/>
          </a:xfrm>
          <a:prstGeom prst="rect">
            <a:avLst/>
          </a:prstGeom>
          <a:noFill/>
          <a:ln/>
        </p:spPr>
        <p:txBody>
          <a:bodyPr wrap="square" lIns="0" tIns="0" rIns="0" bIns="0" rtlCol="0" anchor="ctr"/>
          <a:lstStyle/>
          <a:p>
            <a:pPr indent="0" marL="0">
              <a:buNone/>
            </a:pPr>
            <a:r>
              <a:rPr lang="en-US" sz="3200" b="1" dirty="0">
                <a:solidFill>
                  <a:srgbClr val="F2C36A"/>
                </a:solidFill>
                <a:latin typeface="Arial" pitchFamily="34" charset="0"/>
                <a:ea typeface="Arial" pitchFamily="34" charset="-122"/>
                <a:cs typeface="Arial" pitchFamily="34" charset="-120"/>
              </a:rPr>
              <a:t>6</a:t>
            </a:r>
            <a:endParaRPr lang="en-US" sz="3200" dirty="0"/>
          </a:p>
        </p:txBody>
      </p:sp>
      <p:sp>
        <p:nvSpPr>
          <p:cNvPr id="20" name="stat 6 text"/>
          <p:cNvSpPr txBox="1"/>
          <p:nvPr/>
        </p:nvSpPr>
        <p:spPr>
          <a:xfrm>
            <a:off x="3520440" y="5074920"/>
            <a:ext cx="2286000" cy="640080"/>
          </a:xfrm>
          <a:prstGeom prst="rect">
            <a:avLst/>
          </a:prstGeom>
          <a:noFill/>
          <a:ln/>
        </p:spPr>
        <p:txBody>
          <a:bodyPr wrap="square" lIns="0" tIns="0" rIns="0" bIns="0" rtlCol="0" anchor="t"/>
          <a:lstStyle/>
          <a:p>
            <a:pPr indent="0" marL="0">
              <a:buNone/>
            </a:pPr>
            <a:r>
              <a:rPr lang="en-US" sz="1100" dirty="0">
                <a:solidFill>
                  <a:schemeClr val="bg1"/>
                </a:solidFill>
              </a:rPr>
              <a:t>chapter interactive website: real recordings, 120 genuine model scores, 55 tests passing</a:t>
            </a:r>
            <a:endParaRPr lang="en-US" sz="1100" dirty="0"/>
          </a:p>
        </p:txBody>
      </p:sp>
      <p:pic>
        <p:nvPicPr>
          <p:cNvPr id="21" name="development plot" descr="MechaSight website: persisted RoboticArm L2 scores on 186 normal validation segments with the frozen q90 threshold">    </p:cNvPr>
          <p:cNvPicPr>
            <a:picLocks noChangeAspect="1"/>
          </p:cNvPicPr>
          <p:nvPr/>
        </p:nvPicPr>
        <p:blipFill>
          <a:blip r:embed="rId1"/>
          <a:stretch>
            <a:fillRect/>
          </a:stretch>
        </p:blipFill>
        <p:spPr>
          <a:xfrm>
            <a:off x="6263640" y="1325880"/>
            <a:ext cx="5394960" cy="2509114"/>
          </a:xfrm>
          <a:prstGeom prst="rect">
            <a:avLst/>
          </a:prstGeom>
        </p:spPr>
      </p:pic>
      <p:sp>
        <p:nvSpPr>
          <p:cNvPr id="22" name="plot caption"/>
          <p:cNvSpPr txBox="1"/>
          <p:nvPr/>
        </p:nvSpPr>
        <p:spPr>
          <a:xfrm>
            <a:off x="6263640" y="3913632"/>
            <a:ext cx="5394960" cy="640080"/>
          </a:xfrm>
          <a:prstGeom prst="rect">
            <a:avLst/>
          </a:prstGeom>
          <a:noFill/>
          <a:ln/>
        </p:spPr>
        <p:txBody>
          <a:bodyPr wrap="square" lIns="0" tIns="0" rIns="0" bIns="0" rtlCol="0" anchor="ctr"/>
          <a:lstStyle/>
          <a:p>
            <a:pPr indent="0" marL="0">
              <a:buNone/>
            </a:pPr>
            <a:r>
              <a:rPr lang="en-US" sz="1100" i="1" dirty="0">
                <a:solidFill>
                  <a:schemeClr val="bg2"/>
                </a:solidFill>
              </a:rPr>
              <a:t>Genuine development plot from the MechaSight website: persisted RoboticArm L2 scores for 186 normal validation segments and the frozen q90 threshold. It describes the threshold, not fault-detection accuracy.</a:t>
            </a:r>
            <a:endParaRPr lang="en-US" sz="1100" dirty="0"/>
          </a:p>
        </p:txBody>
      </p:sp>
      <p:sp>
        <p:nvSpPr>
          <p:cNvPr id="23" name="pipeline card"/>
          <p:cNvSpPr/>
          <p:nvPr/>
        </p:nvSpPr>
        <p:spPr>
          <a:xfrm>
            <a:off x="6263640" y="4681728"/>
            <a:ext cx="5394960" cy="1188720"/>
          </a:xfrm>
          <a:prstGeom prst="roundRect">
            <a:avLst>
              <a:gd name="adj" fmla="val 6154"/>
            </a:avLst>
          </a:prstGeom>
          <a:solidFill>
            <a:srgbClr val="0B1C17"/>
          </a:solidFill>
          <a:ln w="12700">
            <a:solidFill>
              <a:srgbClr val="294138"/>
            </a:solidFill>
            <a:prstDash val="solid"/>
          </a:ln>
        </p:spPr>
      </p:sp>
      <p:sp>
        <p:nvSpPr>
          <p:cNvPr id="24" name="pipeline text"/>
          <p:cNvSpPr txBox="1"/>
          <p:nvPr/>
        </p:nvSpPr>
        <p:spPr>
          <a:xfrm>
            <a:off x="6446520" y="4791456"/>
            <a:ext cx="5029200" cy="987552"/>
          </a:xfrm>
          <a:prstGeom prst="rect">
            <a:avLst/>
          </a:prstGeom>
          <a:noFill/>
          <a:ln/>
        </p:spPr>
        <p:txBody>
          <a:bodyPr wrap="square" lIns="0" tIns="0" rIns="0" bIns="0" rtlCol="0" anchor="t"/>
          <a:lstStyle/>
          <a:p>
            <a:pPr indent="0" marL="0">
              <a:buNone/>
            </a:pPr>
            <a:r>
              <a:rPr lang="en-US" sz="1200" b="1" dirty="0">
                <a:solidFill>
                  <a:schemeClr val="accent2"/>
                </a:solidFill>
              </a:rPr>
              <a:t>Real multi-sensor pipeline</a:t>
            </a:r>
            <a:endParaRPr lang="en-US" sz="1200" dirty="0"/>
          </a:p>
          <a:p>
            <a:pPr indent="0" marL="0">
              <a:buNone/>
            </a:pPr>
            <a:r>
              <a:rPr lang="en-US" sz="1200" dirty="0">
                <a:solidFill>
                  <a:schemeClr val="bg1"/>
                </a:solidFill>
              </a:rPr>
              <a:t>IMAD-DS recordings → 7 channels aligned on timestamps → features and spectra → detectors. Splits are grouped by recording parent so no recording leaks between training and testing.</a:t>
            </a:r>
            <a:endParaRPr lang="en-US" sz="1200" dirty="0"/>
          </a:p>
        </p:txBody>
      </p:sp>
      <p:sp>
        <p:nvSpPr>
          <p:cNvPr id="25" name="honesty note"/>
          <p:cNvSpPr txBox="1"/>
          <p:nvPr/>
        </p:nvSpPr>
        <p:spPr>
          <a:xfrm>
            <a:off x="548640" y="5989320"/>
            <a:ext cx="5486400" cy="320040"/>
          </a:xfrm>
          <a:prstGeom prst="rect">
            <a:avLst/>
          </a:prstGeom>
          <a:noFill/>
          <a:ln/>
        </p:spPr>
        <p:txBody>
          <a:bodyPr wrap="square" lIns="0" tIns="0" rIns="0" bIns="0" rtlCol="0" anchor="ctr"/>
          <a:lstStyle/>
          <a:p>
            <a:pPr indent="0" marL="0">
              <a:buNone/>
            </a:pPr>
            <a:r>
              <a:rPr lang="en-US" sz="1100" b="1" dirty="0">
                <a:solidFill>
                  <a:schemeClr val="accent3"/>
                </a:solidFill>
              </a:rPr>
              <a:t>Protected test evaluation of the fusion models has not been run yet. No fusion accuracy is claimed.</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777240"/>
          </a:xfrm>
          <a:prstGeom prst="rect">
            <a:avLst/>
          </a:prstGeom>
          <a:noFill/>
          <a:ln/>
        </p:spPr>
        <p:txBody>
          <a:bodyPr wrap="square" lIns="0" tIns="0" rIns="0" bIns="0" rtlCol="0" anchor="ctr"/>
          <a:lstStyle/>
          <a:p>
            <a:pPr indent="0" marL="0">
              <a:buNone/>
            </a:pPr>
            <a:r>
              <a:rPr lang="en-US" sz="3400" b="1" dirty="0">
                <a:solidFill>
                  <a:schemeClr val="bg1"/>
                </a:solidFill>
              </a:rPr>
              <a:t>Current status and plan before the next evaluation</a:t>
            </a:r>
            <a:endParaRPr lang="en-US" sz="3400" dirty="0"/>
          </a:p>
        </p:txBody>
      </p:sp>
      <p:sp>
        <p:nvSpPr>
          <p:cNvPr id="3" name="COMPLETED column"/>
          <p:cNvSpPr/>
          <p:nvPr/>
        </p:nvSpPr>
        <p:spPr>
          <a:xfrm>
            <a:off x="548640" y="1325880"/>
            <a:ext cx="2514600" cy="3291840"/>
          </a:xfrm>
          <a:prstGeom prst="roundRect">
            <a:avLst>
              <a:gd name="adj" fmla="val 2909"/>
            </a:avLst>
          </a:prstGeom>
          <a:solidFill>
            <a:srgbClr val="11261F"/>
          </a:solidFill>
          <a:ln w="12700">
            <a:solidFill>
              <a:srgbClr val="294138"/>
            </a:solidFill>
            <a:prstDash val="solid"/>
          </a:ln>
        </p:spPr>
      </p:sp>
      <p:sp>
        <p:nvSpPr>
          <p:cNvPr id="4" name="COMPLETED dot"/>
          <p:cNvSpPr/>
          <p:nvPr/>
        </p:nvSpPr>
        <p:spPr>
          <a:xfrm>
            <a:off x="749808" y="1517904"/>
            <a:ext cx="237744" cy="237744"/>
          </a:xfrm>
          <a:prstGeom prst="ellipse">
            <a:avLst/>
          </a:prstGeom>
          <a:solidFill>
            <a:srgbClr val="57E5C1"/>
          </a:solidFill>
          <a:ln w="12700">
            <a:solidFill>
              <a:srgbClr val="57E5C1"/>
            </a:solidFill>
            <a:prstDash val="solid"/>
          </a:ln>
        </p:spPr>
      </p:sp>
      <p:sp>
        <p:nvSpPr>
          <p:cNvPr id="5" name="COMPLETED label"/>
          <p:cNvSpPr txBox="1"/>
          <p:nvPr/>
        </p:nvSpPr>
        <p:spPr>
          <a:xfrm>
            <a:off x="1078992" y="1499616"/>
            <a:ext cx="1828800" cy="274320"/>
          </a:xfrm>
          <a:prstGeom prst="rect">
            <a:avLst/>
          </a:prstGeom>
          <a:noFill/>
          <a:ln/>
        </p:spPr>
        <p:txBody>
          <a:bodyPr wrap="square" lIns="0" tIns="0" rIns="0" bIns="0" rtlCol="0" anchor="ctr"/>
          <a:lstStyle/>
          <a:p>
            <a:pPr indent="0" marL="0">
              <a:buNone/>
            </a:pPr>
            <a:r>
              <a:rPr lang="en-US" sz="1200" b="1" spc="200" kern="0" dirty="0">
                <a:solidFill>
                  <a:srgbClr val="57E5C1"/>
                </a:solidFill>
              </a:rPr>
              <a:t>COMPLETED</a:t>
            </a:r>
            <a:endParaRPr lang="en-US" sz="1200" dirty="0"/>
          </a:p>
        </p:txBody>
      </p:sp>
      <p:sp>
        <p:nvSpPr>
          <p:cNvPr id="6" name="COMPLETED items"/>
          <p:cNvSpPr txBox="1"/>
          <p:nvPr/>
        </p:nvSpPr>
        <p:spPr>
          <a:xfrm>
            <a:off x="731520" y="1920240"/>
            <a:ext cx="2194560" cy="292608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bg1"/>
                </a:solidFill>
              </a:rPr>
              <a:t>Research foundations and leakage-controlled splits</a:t>
            </a:r>
            <a:endParaRPr lang="en-US" sz="1200" dirty="0"/>
          </a:p>
          <a:p>
            <a:pPr marL="342900" indent="-342900">
              <a:spcAft>
                <a:spcPts val="800"/>
              </a:spcAft>
              <a:buSzPct val="100000"/>
              <a:buChar char="•"/>
            </a:pPr>
            <a:r>
              <a:rPr lang="en-US" sz="1200" dirty="0">
                <a:solidFill>
                  <a:schemeClr val="bg1"/>
                </a:solidFill>
              </a:rPr>
              <a:t>Single-sensor benchmarks</a:t>
            </a:r>
            <a:endParaRPr lang="en-US" sz="1200" dirty="0"/>
          </a:p>
          <a:p>
            <a:pPr marL="342900" indent="-342900">
              <a:spcAft>
                <a:spcPts val="800"/>
              </a:spcAft>
              <a:buSzPct val="100000"/>
              <a:buChar char="•"/>
            </a:pPr>
            <a:r>
              <a:rPr lang="en-US" sz="1200" dirty="0">
                <a:solidFill>
                  <a:schemeClr val="bg1"/>
                </a:solidFill>
              </a:rPr>
              <a:t>L1 training and L2 calibration</a:t>
            </a:r>
            <a:endParaRPr lang="en-US" sz="1200" dirty="0"/>
          </a:p>
          <a:p>
            <a:pPr marL="342900" indent="-342900">
              <a:spcAft>
                <a:spcPts val="800"/>
              </a:spcAft>
              <a:buSzPct val="100000"/>
              <a:buChar char="•"/>
            </a:pPr>
            <a:r>
              <a:rPr lang="en-US" sz="1200" dirty="0">
                <a:solidFill>
                  <a:schemeClr val="bg1"/>
                </a:solidFill>
              </a:rPr>
              <a:t>L3 sensor-integrity testing</a:t>
            </a:r>
            <a:endParaRPr lang="en-US" sz="1200" dirty="0"/>
          </a:p>
          <a:p>
            <a:pPr marL="342900" indent="-342900">
              <a:spcAft>
                <a:spcPts val="800"/>
              </a:spcAft>
              <a:buSzPct val="100000"/>
              <a:buChar char="•"/>
            </a:pPr>
            <a:r>
              <a:rPr lang="en-US" sz="1200" dirty="0">
                <a:solidFill>
                  <a:schemeClr val="bg1"/>
                </a:solidFill>
              </a:rPr>
              <a:t>Development evaluation and demo website</a:t>
            </a:r>
            <a:endParaRPr lang="en-US" sz="1200" dirty="0"/>
          </a:p>
        </p:txBody>
      </p:sp>
      <p:sp>
        <p:nvSpPr>
          <p:cNvPr id="7" name="CURRENT column"/>
          <p:cNvSpPr/>
          <p:nvPr/>
        </p:nvSpPr>
        <p:spPr>
          <a:xfrm>
            <a:off x="3246120" y="1325880"/>
            <a:ext cx="2514600" cy="3291840"/>
          </a:xfrm>
          <a:prstGeom prst="roundRect">
            <a:avLst>
              <a:gd name="adj" fmla="val 2909"/>
            </a:avLst>
          </a:prstGeom>
          <a:solidFill>
            <a:srgbClr val="11261F"/>
          </a:solidFill>
          <a:ln w="12700">
            <a:solidFill>
              <a:srgbClr val="294138"/>
            </a:solidFill>
            <a:prstDash val="solid"/>
          </a:ln>
        </p:spPr>
      </p:sp>
      <p:sp>
        <p:nvSpPr>
          <p:cNvPr id="8" name="CURRENT dot"/>
          <p:cNvSpPr/>
          <p:nvPr/>
        </p:nvSpPr>
        <p:spPr>
          <a:xfrm>
            <a:off x="3447288" y="1517904"/>
            <a:ext cx="237744" cy="237744"/>
          </a:xfrm>
          <a:prstGeom prst="ellipse">
            <a:avLst/>
          </a:prstGeom>
          <a:solidFill>
            <a:srgbClr val="F2C36A"/>
          </a:solidFill>
          <a:ln w="12700">
            <a:solidFill>
              <a:srgbClr val="F2C36A"/>
            </a:solidFill>
            <a:prstDash val="solid"/>
          </a:ln>
        </p:spPr>
      </p:sp>
      <p:sp>
        <p:nvSpPr>
          <p:cNvPr id="9" name="CURRENT label"/>
          <p:cNvSpPr txBox="1"/>
          <p:nvPr/>
        </p:nvSpPr>
        <p:spPr>
          <a:xfrm>
            <a:off x="3776472" y="1499616"/>
            <a:ext cx="1828800" cy="274320"/>
          </a:xfrm>
          <a:prstGeom prst="rect">
            <a:avLst/>
          </a:prstGeom>
          <a:noFill/>
          <a:ln/>
        </p:spPr>
        <p:txBody>
          <a:bodyPr wrap="square" lIns="0" tIns="0" rIns="0" bIns="0" rtlCol="0" anchor="ctr"/>
          <a:lstStyle/>
          <a:p>
            <a:pPr indent="0" marL="0">
              <a:buNone/>
            </a:pPr>
            <a:r>
              <a:rPr lang="en-US" sz="1200" b="1" spc="200" kern="0" dirty="0">
                <a:solidFill>
                  <a:srgbClr val="F2C36A"/>
                </a:solidFill>
              </a:rPr>
              <a:t>CURRENT</a:t>
            </a:r>
            <a:endParaRPr lang="en-US" sz="1200" dirty="0"/>
          </a:p>
        </p:txBody>
      </p:sp>
      <p:sp>
        <p:nvSpPr>
          <p:cNvPr id="10" name="CURRENT items"/>
          <p:cNvSpPr txBox="1"/>
          <p:nvPr/>
        </p:nvSpPr>
        <p:spPr>
          <a:xfrm>
            <a:off x="3429000" y="1920240"/>
            <a:ext cx="2194560" cy="292608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bg1"/>
                </a:solidFill>
              </a:rPr>
              <a:t>Protected-evaluation readiness: label-free index, input adapter, ledger batch interface</a:t>
            </a:r>
            <a:endParaRPr lang="en-US" sz="1200" dirty="0"/>
          </a:p>
          <a:p>
            <a:pPr marL="342900" indent="-342900">
              <a:spcAft>
                <a:spcPts val="800"/>
              </a:spcAft>
              <a:buSzPct val="100000"/>
              <a:buChar char="•"/>
            </a:pPr>
            <a:r>
              <a:rPr lang="en-US" sz="1200" dirty="0">
                <a:solidFill>
                  <a:schemeClr val="bg1"/>
                </a:solidFill>
              </a:rPr>
              <a:t>Waiting for independent review and authorization</a:t>
            </a:r>
            <a:endParaRPr lang="en-US" sz="1200" dirty="0"/>
          </a:p>
        </p:txBody>
      </p:sp>
      <p:sp>
        <p:nvSpPr>
          <p:cNvPr id="11" name="NEXT column"/>
          <p:cNvSpPr/>
          <p:nvPr/>
        </p:nvSpPr>
        <p:spPr>
          <a:xfrm>
            <a:off x="5943600" y="1325880"/>
            <a:ext cx="2514600" cy="3291840"/>
          </a:xfrm>
          <a:prstGeom prst="roundRect">
            <a:avLst>
              <a:gd name="adj" fmla="val 2909"/>
            </a:avLst>
          </a:prstGeom>
          <a:solidFill>
            <a:srgbClr val="11261F"/>
          </a:solidFill>
          <a:ln w="12700">
            <a:solidFill>
              <a:srgbClr val="294138"/>
            </a:solidFill>
            <a:prstDash val="solid"/>
          </a:ln>
        </p:spPr>
      </p:sp>
      <p:sp>
        <p:nvSpPr>
          <p:cNvPr id="12" name="NEXT dot"/>
          <p:cNvSpPr/>
          <p:nvPr/>
        </p:nvSpPr>
        <p:spPr>
          <a:xfrm>
            <a:off x="6144768" y="1517904"/>
            <a:ext cx="237744" cy="237744"/>
          </a:xfrm>
          <a:prstGeom prst="ellipse">
            <a:avLst/>
          </a:prstGeom>
          <a:solidFill>
            <a:srgbClr val="FF8A52"/>
          </a:solidFill>
          <a:ln w="12700">
            <a:solidFill>
              <a:srgbClr val="FF8A52"/>
            </a:solidFill>
            <a:prstDash val="solid"/>
          </a:ln>
        </p:spPr>
      </p:sp>
      <p:sp>
        <p:nvSpPr>
          <p:cNvPr id="13" name="NEXT label"/>
          <p:cNvSpPr txBox="1"/>
          <p:nvPr/>
        </p:nvSpPr>
        <p:spPr>
          <a:xfrm>
            <a:off x="6473952" y="1499616"/>
            <a:ext cx="1828800" cy="274320"/>
          </a:xfrm>
          <a:prstGeom prst="rect">
            <a:avLst/>
          </a:prstGeom>
          <a:noFill/>
          <a:ln/>
        </p:spPr>
        <p:txBody>
          <a:bodyPr wrap="square" lIns="0" tIns="0" rIns="0" bIns="0" rtlCol="0" anchor="ctr"/>
          <a:lstStyle/>
          <a:p>
            <a:pPr indent="0" marL="0">
              <a:buNone/>
            </a:pPr>
            <a:r>
              <a:rPr lang="en-US" sz="1200" b="1" spc="200" kern="0" dirty="0">
                <a:solidFill>
                  <a:srgbClr val="FF8A52"/>
                </a:solidFill>
              </a:rPr>
              <a:t>NEXT</a:t>
            </a:r>
            <a:endParaRPr lang="en-US" sz="1200" dirty="0"/>
          </a:p>
        </p:txBody>
      </p:sp>
      <p:sp>
        <p:nvSpPr>
          <p:cNvPr id="14" name="NEXT items"/>
          <p:cNvSpPr txBox="1"/>
          <p:nvPr/>
        </p:nvSpPr>
        <p:spPr>
          <a:xfrm>
            <a:off x="6126480" y="1920240"/>
            <a:ext cx="2194560" cy="292608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bg1"/>
                </a:solidFill>
              </a:rPr>
              <a:t>Independent review of the final executable</a:t>
            </a:r>
            <a:endParaRPr lang="en-US" sz="1200" dirty="0"/>
          </a:p>
          <a:p>
            <a:pPr marL="342900" indent="-342900">
              <a:spcAft>
                <a:spcPts val="800"/>
              </a:spcAft>
              <a:buSzPct val="100000"/>
              <a:buChar char="•"/>
            </a:pPr>
            <a:r>
              <a:rPr lang="en-US" sz="1200" dirty="0">
                <a:solidFill>
                  <a:schemeClr val="bg1"/>
                </a:solidFill>
              </a:rPr>
              <a:t>Authorized protected evaluation: 232 planned looks</a:t>
            </a:r>
            <a:endParaRPr lang="en-US" sz="1200" dirty="0"/>
          </a:p>
          <a:p>
            <a:pPr marL="342900" indent="-342900">
              <a:spcAft>
                <a:spcPts val="800"/>
              </a:spcAft>
              <a:buSzPct val="100000"/>
              <a:buChar char="•"/>
            </a:pPr>
            <a:r>
              <a:rPr lang="en-US" sz="1200" dirty="0">
                <a:solidFill>
                  <a:schemeClr val="bg1"/>
                </a:solidFill>
              </a:rPr>
              <a:t>Statistical comparisons: AUROC, false-alarm rate, recall, 10,000-draw bootstrap</a:t>
            </a:r>
            <a:endParaRPr lang="en-US" sz="1200" dirty="0"/>
          </a:p>
          <a:p>
            <a:pPr marL="342900" indent="-342900">
              <a:spcAft>
                <a:spcPts val="800"/>
              </a:spcAft>
              <a:buSzPct val="100000"/>
              <a:buChar char="•"/>
            </a:pPr>
            <a:r>
              <a:rPr lang="en-US" sz="1200" dirty="0">
                <a:solidFill>
                  <a:schemeClr val="bg1"/>
                </a:solidFill>
              </a:rPr>
              <a:t>Conclusions, report and submission</a:t>
            </a:r>
            <a:endParaRPr lang="en-US" sz="1200" dirty="0"/>
          </a:p>
        </p:txBody>
      </p:sp>
      <p:pic>
        <p:nvPicPr>
          <p:cNvPr id="15" name="website screenshot" descr="MechaSight guided journey page">    </p:cNvPr>
          <p:cNvPicPr>
            <a:picLocks noChangeAspect="1"/>
          </p:cNvPicPr>
          <p:nvPr/>
        </p:nvPicPr>
        <p:blipFill>
          <a:blip r:embed="rId1"/>
          <a:stretch>
            <a:fillRect/>
          </a:stretch>
        </p:blipFill>
        <p:spPr>
          <a:xfrm>
            <a:off x="8732520" y="1325880"/>
            <a:ext cx="2926080" cy="1742846"/>
          </a:xfrm>
          <a:prstGeom prst="rect">
            <a:avLst/>
          </a:prstGeom>
        </p:spPr>
      </p:pic>
      <p:sp>
        <p:nvSpPr>
          <p:cNvPr id="16" name="demo note"/>
          <p:cNvSpPr txBox="1"/>
          <p:nvPr/>
        </p:nvSpPr>
        <p:spPr>
          <a:xfrm>
            <a:off x="8732520" y="3154680"/>
            <a:ext cx="2926080" cy="914400"/>
          </a:xfrm>
          <a:prstGeom prst="rect">
            <a:avLst/>
          </a:prstGeom>
          <a:noFill/>
          <a:ln/>
        </p:spPr>
        <p:txBody>
          <a:bodyPr wrap="square" lIns="0" tIns="0" rIns="0" bIns="0" rtlCol="0" anchor="ctr"/>
          <a:lstStyle/>
          <a:p>
            <a:pPr indent="0" marL="0">
              <a:buNone/>
            </a:pPr>
            <a:r>
              <a:rPr lang="en-US" sz="1100" dirty="0">
                <a:solidFill>
                  <a:schemeClr val="bg2"/>
                </a:solidFill>
              </a:rPr>
              <a:t>Guided journey, Signal Lab, Findings and Sensor Studio: the demo runs locally on this laptop (npm run preview → 127.0.0.1:4173). It is not publicly deployed.</a:t>
            </a:r>
            <a:endParaRPr lang="en-US" sz="1100" dirty="0"/>
          </a:p>
        </p:txBody>
      </p:sp>
      <p:sp>
        <p:nvSpPr>
          <p:cNvPr id="17" name="ledger card"/>
          <p:cNvSpPr/>
          <p:nvPr/>
        </p:nvSpPr>
        <p:spPr>
          <a:xfrm>
            <a:off x="548640" y="4892040"/>
            <a:ext cx="11109960" cy="960120"/>
          </a:xfrm>
          <a:prstGeom prst="roundRect">
            <a:avLst>
              <a:gd name="adj" fmla="val 7619"/>
            </a:avLst>
          </a:prstGeom>
          <a:solidFill>
            <a:srgbClr val="0B1C17"/>
          </a:solidFill>
          <a:ln w="12700">
            <a:solidFill>
              <a:srgbClr val="294138"/>
            </a:solidFill>
            <a:prstDash val="solid"/>
          </a:ln>
        </p:spPr>
      </p:sp>
      <p:sp>
        <p:nvSpPr>
          <p:cNvPr id="18" name="ledger text"/>
          <p:cNvSpPr txBox="1"/>
          <p:nvPr/>
        </p:nvSpPr>
        <p:spPr>
          <a:xfrm>
            <a:off x="777240" y="4983480"/>
            <a:ext cx="10698480" cy="777240"/>
          </a:xfrm>
          <a:prstGeom prst="rect">
            <a:avLst/>
          </a:prstGeom>
          <a:noFill/>
          <a:ln/>
        </p:spPr>
        <p:txBody>
          <a:bodyPr wrap="square" lIns="0" tIns="0" rIns="0" bIns="0" rtlCol="0" anchor="ctr"/>
          <a:lstStyle/>
          <a:p>
            <a:pPr indent="0" marL="0">
              <a:buNone/>
            </a:pPr>
            <a:r>
              <a:rPr lang="en-US" sz="1300" b="1" dirty="0">
                <a:solidFill>
                  <a:schemeClr val="accent2"/>
                </a:solidFill>
              </a:rPr>
              <a:t>Evaluation discipline  </a:t>
            </a:r>
            <a:pPr indent="0" marL="0">
              <a:buNone/>
            </a:pPr>
            <a:r>
              <a:rPr lang="en-US" sz="1300" dirty="0">
                <a:solidFill>
                  <a:schemeClr val="bg1"/>
                </a:solidFill>
              </a:rPr>
              <a:t>every look at the protected test set is logged. 196 looks so far; the frozen plan adds 232 (→ 428), only after human authorization. Labels are opened once, after all scores are locked.</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MechaSight">
  <a:themeElements>
    <a:clrScheme name="MechaSight">
      <a:dk1>
        <a:srgbClr val="071310"/>
      </a:dk1>
      <a:lt1>
        <a:srgbClr val="EBF4EB"/>
      </a:lt1>
      <a:dk2>
        <a:srgbClr val="11261F"/>
      </a:dk2>
      <a:lt2>
        <a:srgbClr val="A4BBB0"/>
      </a:lt2>
      <a:accent1>
        <a:srgbClr val="FF8A52"/>
      </a:accent1>
      <a:accent2>
        <a:srgbClr val="57E5C1"/>
      </a:accent2>
      <a:accent3>
        <a:srgbClr val="F2C36A"/>
      </a:accent3>
      <a:accent4>
        <a:srgbClr val="294138"/>
      </a:accent4>
      <a:accent5>
        <a:srgbClr val="1A3A30"/>
      </a:accent5>
      <a:accent6>
        <a:srgbClr val="7FA898"/>
      </a:accent6>
      <a:hlink>
        <a:srgbClr val="57E5C1"/>
      </a:hlink>
      <a:folHlink>
        <a:srgbClr val="F2C36A"/>
      </a:folHlink>
    </a:clrScheme>
    <a:fontScheme name="MechaS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MechaSight - Minor Project Defence</dc:title>
  <dc:subject>PptxGenJS Presentation</dc:subject>
  <dc:creator>Amaan Khan</dc:creator>
  <cp:lastModifiedBy>Amaan Khan</cp:lastModifiedBy>
  <cp:revision>1</cp:revision>
  <dcterms:created xsi:type="dcterms:W3CDTF">2026-10-27T10:15:26Z</dcterms:created>
  <dcterms:modified xsi:type="dcterms:W3CDTF">2026-10-27T10:15:26Z</dcterms:modified>
</cp:coreProperties>
</file>